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223" d="100"/>
          <a:sy n="223" d="100"/>
        </p:scale>
        <p:origin x="-370" y="-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33741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grid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417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HACKATHON RAG · DATAPIZZA ACADEMY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777240" y="1691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643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 caso dei Mille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77240" y="2606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Presentazione finale del team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2971800"/>
            <a:ext cx="329184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0B8C4"/>
            </a:solidFill>
            <a:prstDash val="dash"/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NoName</a:t>
            </a:r>
            <a:r>
              <a:rPr lang="en-US" sz="1300" b="1" dirty="0" smtClean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42519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 1  →  Round 2  →  Gold Run   ·   Historical Review</a:t>
            </a:r>
            <a:endParaRPr lang="en-US" sz="1100" dirty="0"/>
          </a:p>
        </p:txBody>
      </p:sp>
      <p:pic>
        <p:nvPicPr>
          <p:cNvPr id="8" name="Image 1" descr="/private/tmp/claude-503/-Users-giuseppesinatra-Documents-GitHub-GenAI-Academy-Notebooks-Blocco2-Hackathon-il-caso-dei-mille/10f5c1c5-15e5-4ef9-b195-a2f4c7e4a030/scratchpad/pptx-team-template/assets/logo-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3291840"/>
            <a:ext cx="2011680" cy="2011680"/>
          </a:xfrm>
          <a:prstGeom prst="rect">
            <a:avLst/>
          </a:prstGeom>
        </p:spPr>
      </p:pic>
      <p:pic>
        <p:nvPicPr>
          <p:cNvPr id="9" name="Image 2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10" name="Image 3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724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Fonti autentiche, derivate e simulate sono marcate nel manifest.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3" name="Image 1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7918"/>
            <a:ext cx="960120" cy="2304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IL CASO DEI MILLE · AGENDA · MAX 10 MINUTI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398927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Cosa vedrete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777240" y="1417320"/>
            <a:ext cx="75895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3"/>
          <p:cNvSpPr/>
          <p:nvPr/>
        </p:nvSpPr>
        <p:spPr>
          <a:xfrm>
            <a:off x="777240" y="1417320"/>
            <a:ext cx="64008" cy="1417320"/>
          </a:xfrm>
          <a:prstGeom prst="rect">
            <a:avLst/>
          </a:prstGeom>
          <a:solidFill>
            <a:srgbClr val="1B64F5"/>
          </a:solidFill>
          <a:ln w="12700">
            <a:solidFill>
              <a:srgbClr val="1B64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4"/>
          <p:cNvSpPr/>
          <p:nvPr/>
        </p:nvSpPr>
        <p:spPr>
          <a:xfrm>
            <a:off x="960120" y="15453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1737360" y="156362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 RAG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040880" y="1581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~5 minuti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737360" y="1947672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Architettura e motivazioni  ·  problemi affrontati e soluzioni  ·  metodo di evaluation e risultati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777240" y="3035808"/>
            <a:ext cx="758952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777240" y="3035808"/>
            <a:ext cx="64008" cy="1417320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960120" y="316382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1"/>
          <p:cNvSpPr/>
          <p:nvPr/>
        </p:nvSpPr>
        <p:spPr>
          <a:xfrm>
            <a:off x="1737360" y="318211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Historical Review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04088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max 5 minuti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737360" y="3566160"/>
            <a:ext cx="6675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domanda assegnata, la nostra tesi e le fonti che la sostengono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77240" y="4572000"/>
            <a:ext cx="7589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5"/>
          <p:cNvSpPr/>
          <p:nvPr/>
        </p:nvSpPr>
        <p:spPr>
          <a:xfrm>
            <a:off x="777240" y="4572000"/>
            <a:ext cx="64008" cy="310896"/>
          </a:xfrm>
          <a:prstGeom prst="rect">
            <a:avLst/>
          </a:prstGeom>
          <a:solidFill>
            <a:srgbClr val="1B64F5"/>
          </a:solidFill>
          <a:ln w="12700">
            <a:solidFill>
              <a:srgbClr val="1B64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6"/>
          <p:cNvSpPr/>
          <p:nvPr/>
        </p:nvSpPr>
        <p:spPr>
          <a:xfrm>
            <a:off x="969264" y="4572000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giuria registra la parte storica, la trascrive e la valuta con un giudice LLM (Professore d'Archivio). Il punteggio (fino a 10) si somma allo score della Gold Run.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77240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3" name="Image 1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PARTE 1 · ARCHITETTURA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2560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 dove siamo partiti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777240" y="1417320"/>
            <a:ext cx="1127760" cy="1005840"/>
          </a:xfrm>
          <a:prstGeom prst="rect">
            <a:avLst/>
          </a:prstGeom>
          <a:solidFill>
            <a:srgbClr val="EFF6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3"/>
          <p:cNvSpPr/>
          <p:nvPr/>
        </p:nvSpPr>
        <p:spPr>
          <a:xfrm>
            <a:off x="822960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Parsing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22960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Docling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1905000" y="1920240"/>
            <a:ext cx="164592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6"/>
          <p:cNvSpPr/>
          <p:nvPr/>
        </p:nvSpPr>
        <p:spPr>
          <a:xfrm>
            <a:off x="2069592" y="1417320"/>
            <a:ext cx="11277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2115312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Chunking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115312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1024 char, overlap 128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197352" y="1920240"/>
            <a:ext cx="164592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3361944" y="1417320"/>
            <a:ext cx="11277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3407664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Embedding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407664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text-embedding-3-small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489704" y="1920240"/>
            <a:ext cx="164592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4654296" y="1417320"/>
            <a:ext cx="11277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5"/>
          <p:cNvSpPr/>
          <p:nvPr/>
        </p:nvSpPr>
        <p:spPr>
          <a:xfrm>
            <a:off x="4700016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Vector store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700016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Qdrant locale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782056" y="1920240"/>
            <a:ext cx="164592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8"/>
          <p:cNvSpPr/>
          <p:nvPr/>
        </p:nvSpPr>
        <p:spPr>
          <a:xfrm>
            <a:off x="5946648" y="1417320"/>
            <a:ext cx="1127760" cy="100584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9"/>
          <p:cNvSpPr/>
          <p:nvPr/>
        </p:nvSpPr>
        <p:spPr>
          <a:xfrm>
            <a:off x="5992368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92368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denso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7074408" y="1920240"/>
            <a:ext cx="164592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2"/>
          <p:cNvSpPr/>
          <p:nvPr/>
        </p:nvSpPr>
        <p:spPr>
          <a:xfrm>
            <a:off x="7239000" y="1417320"/>
            <a:ext cx="112776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3"/>
          <p:cNvSpPr/>
          <p:nvPr/>
        </p:nvSpPr>
        <p:spPr>
          <a:xfrm>
            <a:off x="7284720" y="1463040"/>
            <a:ext cx="103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Generation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284720" y="1960474"/>
            <a:ext cx="1036320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+ risposta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777240" y="2532888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37373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baseline_naive_rag.py — naive dense RAG, Act 1–2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77240" y="28803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Perché siamo partiti da qui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777240" y="3154680"/>
            <a:ext cx="7589520" cy="1417320"/>
          </a:xfrm>
          <a:prstGeom prst="rect">
            <a:avLst/>
          </a:prstGeom>
          <a:solidFill>
            <a:srgbClr val="FAFAFA"/>
          </a:solidFill>
          <a:ln w="9525">
            <a:solidFill>
              <a:srgbClr val="B0B8C4"/>
            </a:solidFill>
            <a:prstDash val="dash"/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Le vostre motivazioni: cosa vi ha convinto di questa baseline, e cosa sapevate già che non avrebbe funzionato ]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777240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3" name="Image 1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PARTE 1 · ARCHITETTURA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2560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Come si è evoluta, e perché</a:t>
            </a: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777240" y="1325880"/>
            <a:ext cx="11582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3"/>
          <p:cNvSpPr/>
          <p:nvPr/>
        </p:nvSpPr>
        <p:spPr>
          <a:xfrm>
            <a:off x="822960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Sprint 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22960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 1–2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1935480" y="1691640"/>
            <a:ext cx="128016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6"/>
          <p:cNvSpPr/>
          <p:nvPr/>
        </p:nvSpPr>
        <p:spPr>
          <a:xfrm>
            <a:off x="2063496" y="1325880"/>
            <a:ext cx="11582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2109216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Round 1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109216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 submission</a:t>
            </a:r>
            <a:endParaRPr lang="en-US" sz="800" dirty="0"/>
          </a:p>
        </p:txBody>
      </p:sp>
      <p:sp>
        <p:nvSpPr>
          <p:cNvPr id="13" name="Shape 9"/>
          <p:cNvSpPr/>
          <p:nvPr/>
        </p:nvSpPr>
        <p:spPr>
          <a:xfrm>
            <a:off x="3221736" y="1691640"/>
            <a:ext cx="128016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3349752" y="1325880"/>
            <a:ext cx="11582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3395472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Apertura Act 3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395472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mappe, scan, cross-doc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4507992" y="1691640"/>
            <a:ext cx="128016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4"/>
          <p:cNvSpPr/>
          <p:nvPr/>
        </p:nvSpPr>
        <p:spPr>
          <a:xfrm>
            <a:off x="4636008" y="1325880"/>
            <a:ext cx="11582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5"/>
          <p:cNvSpPr/>
          <p:nvPr/>
        </p:nvSpPr>
        <p:spPr>
          <a:xfrm>
            <a:off x="4681728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Build Sprint 3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681728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Act 4 · version aw.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5794248" y="1691640"/>
            <a:ext cx="128016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18"/>
          <p:cNvSpPr/>
          <p:nvPr/>
        </p:nvSpPr>
        <p:spPr>
          <a:xfrm>
            <a:off x="5922264" y="1325880"/>
            <a:ext cx="1158240" cy="731520"/>
          </a:xfrm>
          <a:prstGeom prst="rect">
            <a:avLst/>
          </a:prstGeom>
          <a:solidFill>
            <a:srgbClr val="F3F4F6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19"/>
          <p:cNvSpPr/>
          <p:nvPr/>
        </p:nvSpPr>
        <p:spPr>
          <a:xfrm>
            <a:off x="5967984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Round 2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67984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domande più difficili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7080504" y="1691640"/>
            <a:ext cx="128016" cy="0"/>
          </a:xfrm>
          <a:prstGeom prst="line">
            <a:avLst/>
          </a:prstGeom>
          <a:noFill/>
          <a:ln w="15240">
            <a:solidFill>
              <a:srgbClr val="1B64F5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2"/>
          <p:cNvSpPr/>
          <p:nvPr/>
        </p:nvSpPr>
        <p:spPr>
          <a:xfrm>
            <a:off x="7208520" y="1325880"/>
            <a:ext cx="1158240" cy="731520"/>
          </a:xfrm>
          <a:prstGeom prst="rect">
            <a:avLst/>
          </a:prstGeom>
          <a:solidFill>
            <a:srgbClr val="F0FDF4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3"/>
          <p:cNvSpPr/>
          <p:nvPr/>
        </p:nvSpPr>
        <p:spPr>
          <a:xfrm>
            <a:off x="7254240" y="1371600"/>
            <a:ext cx="106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Gold Run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254240" y="1720901"/>
            <a:ext cx="1066800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one-shot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77240" y="2331720"/>
            <a:ext cx="374904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Shape 26"/>
          <p:cNvSpPr/>
          <p:nvPr/>
        </p:nvSpPr>
        <p:spPr>
          <a:xfrm>
            <a:off x="777240" y="2331720"/>
            <a:ext cx="3749040" cy="310896"/>
          </a:xfrm>
          <a:prstGeom prst="rect">
            <a:avLst/>
          </a:prstGeom>
          <a:solidFill>
            <a:srgbClr val="C86E3E"/>
          </a:solidFill>
          <a:ln w="12700">
            <a:solidFill>
              <a:srgbClr val="C86E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7"/>
          <p:cNvSpPr/>
          <p:nvPr/>
        </p:nvSpPr>
        <p:spPr>
          <a:xfrm>
            <a:off x="886968" y="23317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Prima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800600" y="2331720"/>
            <a:ext cx="374904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29"/>
          <p:cNvSpPr/>
          <p:nvPr/>
        </p:nvSpPr>
        <p:spPr>
          <a:xfrm>
            <a:off x="4800600" y="2331720"/>
            <a:ext cx="3749040" cy="310896"/>
          </a:xfrm>
          <a:prstGeom prst="rect">
            <a:avLst/>
          </a:prstGeom>
          <a:solidFill>
            <a:srgbClr val="398C4B"/>
          </a:solidFill>
          <a:ln w="12700">
            <a:solidFill>
              <a:srgbClr val="398C4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0"/>
          <p:cNvSpPr/>
          <p:nvPr/>
        </p:nvSpPr>
        <p:spPr>
          <a:xfrm>
            <a:off x="4910328" y="233172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Dopo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868680" y="2734056"/>
            <a:ext cx="356616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Es. chunking a lunghezza fissa, nessun rerank, un solo modello di embedding per tutto l'archivio ]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4892040" y="2734056"/>
            <a:ext cx="3566160" cy="1060704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Cosa avete cambiato in concreto, e cosa vi ha convinti a farlo — un round, un errore, una metrica ]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777240" y="401421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Spunti dalla baseline: </a:t>
            </a:r>
            <a:r>
              <a:rPr lang="en-US" sz="95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hybrid search, rerank, query rewrite, chunking semantico, OCR/mappe, version awareness, abstention, costi/latency.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777240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3" name="Image 1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PARTE 1 · PROBLEMI E SOLUZIONI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2560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Cosa non ha funzionato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579011935"/>
              </p:ext>
            </p:extLst>
          </p:nvPr>
        </p:nvGraphicFramePr>
        <p:xfrm>
          <a:off x="777240" y="1417320"/>
          <a:ext cx="7571232" cy="2423160"/>
        </p:xfrm>
        <a:graphic>
          <a:graphicData uri="http://schemas.openxmlformats.org/drawingml/2006/table">
            <a:tbl>
              <a:tblPr/>
              <a:tblGrid>
                <a:gridCol w="324612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45059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433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Problema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433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Quando l'abbiamo notato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64336"/>
                          </a:solidFill>
                          <a:latin typeface="Poppins" pitchFamily="34" charset="0"/>
                          <a:ea typeface="Poppins" pitchFamily="34" charset="-122"/>
                          <a:cs typeface="Poppins" pitchFamily="34" charset="-120"/>
                        </a:rPr>
                        <a:t>Soluzione</a:t>
                      </a:r>
                      <a:endParaRPr lang="en-US" sz="1000" dirty="0">
                        <a:latin typeface="Poppins" charset="0"/>
                        <a:ea typeface="Poppins" charset="0"/>
                        <a:cs typeface="Poppins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F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Esempio — le scansioni garib_* arrivavano come OCR rumoroso: il retrieval le trattava come testo pulito e le ignorava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F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Round 1, error analysis sul feedback pack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11F2D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Parsing dedicato per le pagine scansionate (Docling + descrizione del contenuto) prima del chunking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 Problema 2 — cosa è andato storto ]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 quando ve ne siete accorti ]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 cosa avete cambiato ]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 Problema 3 — cosa è andato storto ]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 quando ve ne siete accorti ]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i="1" dirty="0">
                          <a:solidFill>
                            <a:srgbClr val="737373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[ cosa avete cambiato ]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76200" marB="7620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777240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3" name="Image 1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7240" y="7315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7342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PARTE 2 · HISTORICAL REVIEW</a:t>
            </a:r>
            <a:endParaRPr lang="en-US" sz="900" dirty="0"/>
          </a:p>
        </p:txBody>
      </p:sp>
      <p:sp>
        <p:nvSpPr>
          <p:cNvPr id="5" name="Text 1"/>
          <p:cNvSpPr/>
          <p:nvPr/>
        </p:nvSpPr>
        <p:spPr>
          <a:xfrm>
            <a:off x="777240" y="25603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64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nostra domanda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777240" y="969264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 5 minuti — libera da qui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777240" y="1417320"/>
            <a:ext cx="7589520" cy="566928"/>
          </a:xfrm>
          <a:prstGeom prst="rect">
            <a:avLst/>
          </a:prstGeom>
          <a:solidFill>
            <a:srgbClr val="FAFA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4"/>
          <p:cNvSpPr/>
          <p:nvPr/>
        </p:nvSpPr>
        <p:spPr>
          <a:xfrm>
            <a:off x="777240" y="1417320"/>
            <a:ext cx="64008" cy="566928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5"/>
          <p:cNvSpPr/>
          <p:nvPr/>
        </p:nvSpPr>
        <p:spPr>
          <a:xfrm>
            <a:off x="996696" y="1417320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 [ Testo della domanda assegnata ] »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77240" y="21488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nostra tesi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7240" y="2423160"/>
            <a:ext cx="7589520" cy="1005840"/>
          </a:xfrm>
          <a:prstGeom prst="rect">
            <a:avLst/>
          </a:prstGeom>
          <a:solidFill>
            <a:srgbClr val="FAFAFA"/>
          </a:solidFill>
          <a:ln w="9525">
            <a:solidFill>
              <a:srgbClr val="B0B8C4"/>
            </a:solidFill>
            <a:prstDash val="dash"/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 La vostra tesi in due o tre frasi — quali fonti la sostengono, e cosa NON siete in grado di affermare con certezza ]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77240" y="35661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F2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Cosa valuta la giuria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77240" y="3822192"/>
            <a:ext cx="179451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777240" y="3822192"/>
            <a:ext cx="1794510" cy="64008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1"/>
          <p:cNvSpPr/>
          <p:nvPr/>
        </p:nvSpPr>
        <p:spPr>
          <a:xfrm>
            <a:off x="850392" y="3913632"/>
            <a:ext cx="16482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verificabile delle fonti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708910" y="3822192"/>
            <a:ext cx="179451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3"/>
          <p:cNvSpPr/>
          <p:nvPr/>
        </p:nvSpPr>
        <p:spPr>
          <a:xfrm>
            <a:off x="2708910" y="3822192"/>
            <a:ext cx="1794510" cy="64008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4"/>
          <p:cNvSpPr/>
          <p:nvPr/>
        </p:nvSpPr>
        <p:spPr>
          <a:xfrm>
            <a:off x="2782062" y="3913632"/>
            <a:ext cx="16482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Cautela storica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640580" y="3822192"/>
            <a:ext cx="179451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6"/>
          <p:cNvSpPr/>
          <p:nvPr/>
        </p:nvSpPr>
        <p:spPr>
          <a:xfrm>
            <a:off x="4640580" y="3822192"/>
            <a:ext cx="1794510" cy="64008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7"/>
          <p:cNvSpPr/>
          <p:nvPr/>
        </p:nvSpPr>
        <p:spPr>
          <a:xfrm>
            <a:off x="4713732" y="3913632"/>
            <a:ext cx="16482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Sintesi critica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572250" y="3822192"/>
            <a:ext cx="179451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19"/>
          <p:cNvSpPr/>
          <p:nvPr/>
        </p:nvSpPr>
        <p:spPr>
          <a:xfrm>
            <a:off x="6572250" y="3822192"/>
            <a:ext cx="1794510" cy="64008"/>
          </a:xfrm>
          <a:prstGeom prst="rect">
            <a:avLst/>
          </a:prstGeom>
          <a:solidFill>
            <a:srgbClr val="D7342B"/>
          </a:solidFill>
          <a:ln w="12700">
            <a:solidFill>
              <a:srgbClr val="D734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0"/>
          <p:cNvSpPr/>
          <p:nvPr/>
        </p:nvSpPr>
        <p:spPr>
          <a:xfrm>
            <a:off x="6645402" y="3913632"/>
            <a:ext cx="164820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Riflessione sui limiti della pipeline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777240" y="4553712"/>
            <a:ext cx="75895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2"/>
          <p:cNvSpPr/>
          <p:nvPr/>
        </p:nvSpPr>
        <p:spPr>
          <a:xfrm>
            <a:off x="777240" y="4553712"/>
            <a:ext cx="64008" cy="310896"/>
          </a:xfrm>
          <a:prstGeom prst="rect">
            <a:avLst/>
          </a:prstGeom>
          <a:solidFill>
            <a:srgbClr val="C86E3E"/>
          </a:solidFill>
          <a:ln w="12700">
            <a:solidFill>
              <a:srgbClr val="C86E3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3"/>
          <p:cNvSpPr/>
          <p:nvPr/>
        </p:nvSpPr>
        <p:spPr>
          <a:xfrm>
            <a:off x="969264" y="4553712"/>
            <a:ext cx="7360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 premia stile o sicurezza retorica: penalizza tesi più forti delle prove, citazioni ornamentali e conoscenza esterna non ricondotta all'archivio.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777240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3/-Users-giuseppesinatra-Documents-GitHub-GenAI-Academy-Notebooks-Blocco2-Hackathon-il-caso-dei-mille/10f5c1c5-15e5-4ef9-b195-a2f4c7e4a030/scratchpad/pptx-team-template/assets/grid-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965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6433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Grazie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77240" y="2880360"/>
            <a:ext cx="4114800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B0B8C4"/>
            </a:solidFill>
            <a:prstDash val="dash"/>
          </a:ln>
        </p:spPr>
        <p:txBody>
          <a:bodyPr wrap="square" lIns="25400" tIns="25400" rIns="25400" bIns="25400" rtlCol="0" anchor="t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NoName</a:t>
            </a:r>
            <a:r>
              <a:rPr lang="en-US" sz="1300" b="1" smtClean="0">
                <a:solidFill>
                  <a:srgbClr val="111F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7724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373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Domande?</a:t>
            </a:r>
            <a:endParaRPr lang="en-US" sz="1300" dirty="0"/>
          </a:p>
        </p:txBody>
      </p:sp>
      <p:pic>
        <p:nvPicPr>
          <p:cNvPr id="6" name="Image 1" descr="/private/tmp/claude-503/-Users-giuseppesinatra-Documents-GitHub-GenAI-Academy-Notebooks-Blocco2-Hackathon-il-caso-dei-mille/10f5c1c5-15e5-4ef9-b195-a2f4c7e4a030/scratchpad/pptx-team-template/assets/logo-datapizz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82880"/>
            <a:ext cx="1051560" cy="256032"/>
          </a:xfrm>
          <a:prstGeom prst="rect">
            <a:avLst/>
          </a:prstGeom>
        </p:spPr>
      </p:pic>
      <p:pic>
        <p:nvPicPr>
          <p:cNvPr id="7" name="Image 2" descr="/private/tmp/claude-503/-Users-giuseppesinatra-Documents-GitHub-GenAI-Academy-Notebooks-Blocco2-Hackathon-il-caso-dei-mille/10f5c1c5-15e5-4ef9-b195-a2f4c7e4a030/scratchpad/pptx-team-template/assets/aitho-logo-horizont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82880"/>
            <a:ext cx="960120" cy="23042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7240" y="484632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Hackathon RAG · Datapizza Academy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539</Words>
  <Application>Microsoft Macintosh PowerPoint</Application>
  <PresentationFormat>Presentazione su schermo (16:9)</PresentationFormat>
  <Paragraphs>95</Paragraphs>
  <Slides>7</Slides>
  <Notes>7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8" baseType="lpstr">
      <vt:lpstr>Office Theme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 caso dei Mille — Template presentazione team</dc:title>
  <dc:subject>PptxGenJS Presentation</dc:subject>
  <dc:creator>Datapizza Academy</dc:creator>
  <cp:lastModifiedBy>Luigi Fassari</cp:lastModifiedBy>
  <cp:revision>4</cp:revision>
  <dcterms:created xsi:type="dcterms:W3CDTF">2026-08-24T13:36:06Z</dcterms:created>
  <dcterms:modified xsi:type="dcterms:W3CDTF">2026-08-27T13:29:35Z</dcterms:modified>
</cp:coreProperties>
</file>